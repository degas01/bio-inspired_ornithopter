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C6CCF7-A10E-4904-35EB-3C237D85F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984AB33-67BE-5C4F-C704-DF2B854A5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636C22-F86C-5CAF-ED76-8E5A8DFA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2174B7-9EF5-0DD9-A9A3-8BBE20D9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10E490-EA29-10BF-CCE8-6DF026BC5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145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DA2233-6A3C-0356-55F2-915A78203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5A5021-714C-D680-7F46-197D853EA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A5478A-3173-9DE9-E5C1-5ECF8FA9A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97C779-B41E-3BF7-AEF0-8AB0876C4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A2BD3F-73D1-6152-2578-10501981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1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DEC0DC-8A9E-2683-9732-4003AD9E2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A18F344-ADA3-3652-D9AC-695E3326F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1E91F5-8E9A-DA0B-238C-F7904A52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E6AE65-73FE-BC0E-7F12-D9018E4DB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9AB029-A913-B718-8CF6-B79026B1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4787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42ED9-97A1-A2FE-D1B0-4CE21D1BF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C85396-CD71-BD91-D358-490EEA6B72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13AC49F-9800-C173-0B5B-BD8DE9B7C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80B9DA-D871-1040-FC99-4AA33601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539FC7-FA2B-851C-7781-753ABB6F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13A9142-F742-C827-26FA-8A98385D4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2568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B18852-F3C7-F146-8067-88257DB8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1595BC-C0C8-B8FC-12C7-441E009F3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517841-E944-EBC9-C9AE-BF4AE628FC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337605C-73DD-32F0-C02F-7B5EB3A46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E217F91-ED85-190B-2312-9EA92A2AB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ACFEC26-F3CE-B94D-2EC6-7F06FF39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2701B2D-AC62-3AD0-5A71-0C00FCCB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FD44AA-EC91-BA8B-82AD-5EE9E05BB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43593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BC3F8D-C566-DCA4-DD18-1A865957B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8A7F27-32F3-F502-6FBB-70866666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B63B86-5DC5-9FA6-D2B4-0BAA9DAB8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E8DF997-0D19-D19A-98E6-6FD371C7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4624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79FED67-6D85-9C43-9B34-1DFF9EB80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01D9D8B-4D02-102C-1250-3D15CAD1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1758EA-F301-4B58-DC55-36CF85945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45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9F76AC-2601-8731-4330-3408EE3F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222D38-771E-478A-488C-D35B3368A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BDE1E1A-AFD3-CCBA-57A1-FACA04648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C5DC69D-6BC8-6ABA-4733-85271D29D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59E8C4B-4FD4-E343-E41C-B1757D76E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EF83B45-B13C-4AD6-1FFA-DEC5583A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0900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7D848F-EF56-5598-9BE4-CBE7C34A6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00A52FC-823C-7DB5-2A46-DA6E7C794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E790640-7E9E-E443-E6BF-84B57E1E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1B612-E50E-91FC-40C7-F17BCE03C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99E3F24-6181-50CB-90DC-59DA7719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F4952A4-8A37-EA2F-DE4D-405184AC0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7620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53DE4B-1B80-F70F-CEDA-E30D9C10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544AE37-99BA-2AA3-B4A8-9D4B8A20D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4C8E2A-FB07-4BB7-4C6D-B1E26361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BB1AA5-CC61-28B5-AA31-923D4254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EC971B2-D4E9-8EDE-B657-5DB0B916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557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65C529F-1D10-4D0E-A9DC-579932153D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8E34876-9C8E-2842-8960-90A900913B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9B34D0-BA19-2D22-AF8C-E7DDEE022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C8B4839-B6C3-88FC-9885-F3DAAA781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BAE838-45F5-8E88-0610-D5AB258F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417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7259C1D-ACF4-3DE0-628A-8347E788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B0B23F8-528F-59F0-E1D2-B114895B3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6702AD-8288-E105-DE79-88B66A238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A9F2B3-E4ED-4D2D-A8FF-C3119E888ACD}" type="datetimeFigureOut">
              <a:rPr lang="it-IT" smtClean="0"/>
              <a:t>08/04/2025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FFC1A-0250-8B41-2E00-48F971D26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A5345C-11C1-DEE7-0682-9521A0F254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70EF-9227-46F8-8AD0-D9B786A0017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0002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7AB73FB-BC84-AED3-CE5B-A175ABEE4BFF}"/>
              </a:ext>
            </a:extLst>
          </p:cNvPr>
          <p:cNvSpPr/>
          <p:nvPr/>
        </p:nvSpPr>
        <p:spPr>
          <a:xfrm>
            <a:off x="4680629" y="2237749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Wing Flexibility (WF)</a:t>
            </a:r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BF52EDA-2D67-8875-903B-FECDB5E84DFE}"/>
              </a:ext>
            </a:extLst>
          </p:cNvPr>
          <p:cNvSpPr/>
          <p:nvPr/>
        </p:nvSpPr>
        <p:spPr>
          <a:xfrm>
            <a:off x="1803057" y="1744004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Lift Generation (LG)</a:t>
            </a:r>
            <a:endParaRPr lang="it-IT"/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E0A8C497-BB89-90E2-4F1B-73EF736B4172}"/>
              </a:ext>
            </a:extLst>
          </p:cNvPr>
          <p:cNvSpPr/>
          <p:nvPr/>
        </p:nvSpPr>
        <p:spPr>
          <a:xfrm>
            <a:off x="3186074" y="3474763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Drag Force (DF)</a:t>
            </a:r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06EBC2E4-456F-3C0F-14E6-E33CB4B74E29}"/>
              </a:ext>
            </a:extLst>
          </p:cNvPr>
          <p:cNvSpPr/>
          <p:nvPr/>
        </p:nvSpPr>
        <p:spPr>
          <a:xfrm>
            <a:off x="6810794" y="654840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Energy Efficiency (EE)</a:t>
            </a:r>
            <a:endParaRPr lang="it-IT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95D4B561-2909-533C-2B9B-11A05CB23791}"/>
              </a:ext>
            </a:extLst>
          </p:cNvPr>
          <p:cNvSpPr/>
          <p:nvPr/>
        </p:nvSpPr>
        <p:spPr>
          <a:xfrm>
            <a:off x="9593720" y="2233830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Maneuverability (M)</a:t>
            </a:r>
            <a:endParaRPr lang="it-IT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FA837F5-4078-5207-53EF-54B340598EE1}"/>
              </a:ext>
            </a:extLst>
          </p:cNvPr>
          <p:cNvSpPr/>
          <p:nvPr/>
        </p:nvSpPr>
        <p:spPr>
          <a:xfrm>
            <a:off x="9506288" y="3512918"/>
            <a:ext cx="2021432" cy="65204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Control System Complexity (CSC)</a:t>
            </a:r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3625C662-215B-1818-D1BB-2CD19EA6BD63}"/>
              </a:ext>
            </a:extLst>
          </p:cNvPr>
          <p:cNvSpPr/>
          <p:nvPr/>
        </p:nvSpPr>
        <p:spPr>
          <a:xfrm>
            <a:off x="9593720" y="4958345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Stability (S)</a:t>
            </a:r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B6839A3-6C00-4D8C-CE3B-C91522873013}"/>
              </a:ext>
            </a:extLst>
          </p:cNvPr>
          <p:cNvSpPr/>
          <p:nvPr/>
        </p:nvSpPr>
        <p:spPr>
          <a:xfrm>
            <a:off x="7250396" y="5938703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Material Strength (MS)</a:t>
            </a:r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811E72CA-7AFA-92F0-502B-2F45F70C73F7}"/>
              </a:ext>
            </a:extLst>
          </p:cNvPr>
          <p:cNvSpPr/>
          <p:nvPr/>
        </p:nvSpPr>
        <p:spPr>
          <a:xfrm>
            <a:off x="4009863" y="6078675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Weight (W)</a:t>
            </a:r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C6C464DC-AB3A-6B62-D70D-16E463482BE7}"/>
              </a:ext>
            </a:extLst>
          </p:cNvPr>
          <p:cNvSpPr/>
          <p:nvPr/>
        </p:nvSpPr>
        <p:spPr>
          <a:xfrm>
            <a:off x="1112472" y="5539276"/>
            <a:ext cx="1951453" cy="820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Power Consumption (PC)</a:t>
            </a:r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2210ABBD-688B-69EB-F8EF-827D22AA52F9}"/>
              </a:ext>
            </a:extLst>
          </p:cNvPr>
          <p:cNvSpPr/>
          <p:nvPr/>
        </p:nvSpPr>
        <p:spPr>
          <a:xfrm>
            <a:off x="1112474" y="4246444"/>
            <a:ext cx="1848464" cy="4817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Aerodynamic Design (AD)</a:t>
            </a:r>
            <a:endParaRPr lang="it-IT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6D75C0BE-793C-6F4A-E484-0F2CACA7DD08}"/>
              </a:ext>
            </a:extLst>
          </p:cNvPr>
          <p:cNvSpPr/>
          <p:nvPr/>
        </p:nvSpPr>
        <p:spPr>
          <a:xfrm>
            <a:off x="9780057" y="1029877"/>
            <a:ext cx="1848464" cy="5964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Battery Capacity (BC)</a:t>
            </a:r>
            <a:endParaRPr lang="it-IT"/>
          </a:p>
        </p:txBody>
      </p:sp>
      <p:cxnSp>
        <p:nvCxnSpPr>
          <p:cNvPr id="114" name="Connettore curvo 113">
            <a:extLst>
              <a:ext uri="{FF2B5EF4-FFF2-40B4-BE49-F238E27FC236}">
                <a16:creationId xmlns:a16="http://schemas.microsoft.com/office/drawing/2014/main" id="{839E6E8A-0910-E1F8-8C05-89837B4898A3}"/>
              </a:ext>
            </a:extLst>
          </p:cNvPr>
          <p:cNvCxnSpPr>
            <a:cxnSpLocks/>
            <a:stCxn id="4" idx="1"/>
            <a:endCxn id="8" idx="2"/>
          </p:cNvCxnSpPr>
          <p:nvPr/>
        </p:nvCxnSpPr>
        <p:spPr>
          <a:xfrm rot="10800000">
            <a:off x="2727289" y="2225786"/>
            <a:ext cx="1953340" cy="252854"/>
          </a:xfrm>
          <a:prstGeom prst="curved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Connettore curvo 116">
            <a:extLst>
              <a:ext uri="{FF2B5EF4-FFF2-40B4-BE49-F238E27FC236}">
                <a16:creationId xmlns:a16="http://schemas.microsoft.com/office/drawing/2014/main" id="{EFB93A71-BB5E-231C-0A68-CDE6A0693D4A}"/>
              </a:ext>
            </a:extLst>
          </p:cNvPr>
          <p:cNvCxnSpPr>
            <a:cxnSpLocks/>
            <a:stCxn id="4" idx="1"/>
            <a:endCxn id="10" idx="2"/>
          </p:cNvCxnSpPr>
          <p:nvPr/>
        </p:nvCxnSpPr>
        <p:spPr>
          <a:xfrm rot="10800000" flipV="1">
            <a:off x="4110307" y="2478639"/>
            <a:ext cx="570323" cy="1477905"/>
          </a:xfrm>
          <a:prstGeom prst="curvedConnector4">
            <a:avLst>
              <a:gd name="adj1" fmla="val 302137"/>
              <a:gd name="adj2" fmla="val 115468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9" name="Connettore curvo 118">
            <a:extLst>
              <a:ext uri="{FF2B5EF4-FFF2-40B4-BE49-F238E27FC236}">
                <a16:creationId xmlns:a16="http://schemas.microsoft.com/office/drawing/2014/main" id="{EE48A86B-E9B8-62CF-3441-9E3FC01802B0}"/>
              </a:ext>
            </a:extLst>
          </p:cNvPr>
          <p:cNvCxnSpPr>
            <a:cxnSpLocks/>
            <a:stCxn id="8" idx="0"/>
            <a:endCxn id="11" idx="0"/>
          </p:cNvCxnSpPr>
          <p:nvPr/>
        </p:nvCxnSpPr>
        <p:spPr>
          <a:xfrm rot="5400000" flipH="1" flipV="1">
            <a:off x="4686575" y="-1304446"/>
            <a:ext cx="1089164" cy="5007737"/>
          </a:xfrm>
          <a:prstGeom prst="curvedConnector3">
            <a:avLst>
              <a:gd name="adj1" fmla="val 120989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3" name="Connettore curvo 122">
            <a:extLst>
              <a:ext uri="{FF2B5EF4-FFF2-40B4-BE49-F238E27FC236}">
                <a16:creationId xmlns:a16="http://schemas.microsoft.com/office/drawing/2014/main" id="{CFDFAC3B-AC0D-1FEA-876D-D4772681F5C7}"/>
              </a:ext>
            </a:extLst>
          </p:cNvPr>
          <p:cNvCxnSpPr>
            <a:cxnSpLocks/>
            <a:stCxn id="10" idx="2"/>
            <a:endCxn id="11" idx="2"/>
          </p:cNvCxnSpPr>
          <p:nvPr/>
        </p:nvCxnSpPr>
        <p:spPr>
          <a:xfrm rot="5400000" flipH="1" flipV="1">
            <a:off x="4512704" y="734224"/>
            <a:ext cx="2819923" cy="3624720"/>
          </a:xfrm>
          <a:prstGeom prst="curvedConnector3">
            <a:avLst>
              <a:gd name="adj1" fmla="val -810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5" name="Connettore curvo 134">
            <a:extLst>
              <a:ext uri="{FF2B5EF4-FFF2-40B4-BE49-F238E27FC236}">
                <a16:creationId xmlns:a16="http://schemas.microsoft.com/office/drawing/2014/main" id="{C775F538-C4BC-091E-CF5B-50F8C7F106C4}"/>
              </a:ext>
            </a:extLst>
          </p:cNvPr>
          <p:cNvCxnSpPr>
            <a:cxnSpLocks/>
            <a:stCxn id="4" idx="3"/>
            <a:endCxn id="12" idx="1"/>
          </p:cNvCxnSpPr>
          <p:nvPr/>
        </p:nvCxnSpPr>
        <p:spPr>
          <a:xfrm flipV="1">
            <a:off x="6529093" y="2474721"/>
            <a:ext cx="3064627" cy="3919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Connettore curvo 155">
            <a:extLst>
              <a:ext uri="{FF2B5EF4-FFF2-40B4-BE49-F238E27FC236}">
                <a16:creationId xmlns:a16="http://schemas.microsoft.com/office/drawing/2014/main" id="{BC8E182E-A7FE-3D87-86F5-5961B97449A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rot="5400000">
            <a:off x="10118825" y="3113791"/>
            <a:ext cx="797306" cy="94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1" name="Connettore curvo 160">
            <a:extLst>
              <a:ext uri="{FF2B5EF4-FFF2-40B4-BE49-F238E27FC236}">
                <a16:creationId xmlns:a16="http://schemas.microsoft.com/office/drawing/2014/main" id="{34516C56-8FF4-9161-F4A7-8862AD7C2897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rot="16200000" flipH="1">
            <a:off x="10120785" y="4561177"/>
            <a:ext cx="793387" cy="94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4" name="Connettore curvo 163">
            <a:extLst>
              <a:ext uri="{FF2B5EF4-FFF2-40B4-BE49-F238E27FC236}">
                <a16:creationId xmlns:a16="http://schemas.microsoft.com/office/drawing/2014/main" id="{1402310F-233F-0C69-3641-B6E632EFCD0B}"/>
              </a:ext>
            </a:extLst>
          </p:cNvPr>
          <p:cNvCxnSpPr>
            <a:cxnSpLocks/>
            <a:stCxn id="15" idx="3"/>
            <a:endCxn id="12" idx="3"/>
          </p:cNvCxnSpPr>
          <p:nvPr/>
        </p:nvCxnSpPr>
        <p:spPr>
          <a:xfrm flipV="1">
            <a:off x="11442184" y="2474721"/>
            <a:ext cx="12700" cy="2724515"/>
          </a:xfrm>
          <a:prstGeom prst="curvedConnector3">
            <a:avLst>
              <a:gd name="adj1" fmla="val 3563268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0" name="Connettore curvo 189">
            <a:extLst>
              <a:ext uri="{FF2B5EF4-FFF2-40B4-BE49-F238E27FC236}">
                <a16:creationId xmlns:a16="http://schemas.microsoft.com/office/drawing/2014/main" id="{9139B425-CDBA-ACA1-2575-DC51ED714EDE}"/>
              </a:ext>
            </a:extLst>
          </p:cNvPr>
          <p:cNvCxnSpPr>
            <a:cxnSpLocks/>
            <a:stCxn id="16" idx="0"/>
            <a:endCxn id="4" idx="3"/>
          </p:cNvCxnSpPr>
          <p:nvPr/>
        </p:nvCxnSpPr>
        <p:spPr>
          <a:xfrm rot="16200000" flipV="1">
            <a:off x="5621830" y="3385904"/>
            <a:ext cx="3460063" cy="1645535"/>
          </a:xfrm>
          <a:prstGeom prst="curvedConnector2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3" name="Connettore curvo 192">
            <a:extLst>
              <a:ext uri="{FF2B5EF4-FFF2-40B4-BE49-F238E27FC236}">
                <a16:creationId xmlns:a16="http://schemas.microsoft.com/office/drawing/2014/main" id="{56DB6745-2DE2-B300-D452-FDA33824A6BE}"/>
              </a:ext>
            </a:extLst>
          </p:cNvPr>
          <p:cNvCxnSpPr>
            <a:cxnSpLocks/>
            <a:stCxn id="16" idx="2"/>
            <a:endCxn id="17" idx="2"/>
          </p:cNvCxnSpPr>
          <p:nvPr/>
        </p:nvCxnSpPr>
        <p:spPr>
          <a:xfrm rot="5400000">
            <a:off x="6484376" y="4870205"/>
            <a:ext cx="139972" cy="3240533"/>
          </a:xfrm>
          <a:prstGeom prst="curvedConnector3">
            <a:avLst>
              <a:gd name="adj1" fmla="val 263318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7" name="Connettore curvo 196">
            <a:extLst>
              <a:ext uri="{FF2B5EF4-FFF2-40B4-BE49-F238E27FC236}">
                <a16:creationId xmlns:a16="http://schemas.microsoft.com/office/drawing/2014/main" id="{60666282-DF11-B722-017F-9DC8E906E545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 rot="5400000" flipH="1">
            <a:off x="3410854" y="5037217"/>
            <a:ext cx="200585" cy="2845896"/>
          </a:xfrm>
          <a:prstGeom prst="curvedConnector3">
            <a:avLst>
              <a:gd name="adj1" fmla="val -113967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Connettore curvo 200">
            <a:extLst>
              <a:ext uri="{FF2B5EF4-FFF2-40B4-BE49-F238E27FC236}">
                <a16:creationId xmlns:a16="http://schemas.microsoft.com/office/drawing/2014/main" id="{20FD8787-8872-5405-E278-D1CCA89235E3}"/>
              </a:ext>
            </a:extLst>
          </p:cNvPr>
          <p:cNvCxnSpPr>
            <a:cxnSpLocks/>
            <a:stCxn id="18" idx="2"/>
            <a:endCxn id="11" idx="0"/>
          </p:cNvCxnSpPr>
          <p:nvPr/>
        </p:nvCxnSpPr>
        <p:spPr>
          <a:xfrm rot="5400000" flipH="1" flipV="1">
            <a:off x="2059096" y="683942"/>
            <a:ext cx="5705032" cy="5646827"/>
          </a:xfrm>
          <a:prstGeom prst="curvedConnector5">
            <a:avLst>
              <a:gd name="adj1" fmla="val -3026"/>
              <a:gd name="adj2" fmla="val -32328"/>
              <a:gd name="adj3" fmla="val 106296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7" name="Connettore curvo 216">
            <a:extLst>
              <a:ext uri="{FF2B5EF4-FFF2-40B4-BE49-F238E27FC236}">
                <a16:creationId xmlns:a16="http://schemas.microsoft.com/office/drawing/2014/main" id="{6AE7DE62-CFC8-77F7-ABD0-25C0217A7B31}"/>
              </a:ext>
            </a:extLst>
          </p:cNvPr>
          <p:cNvCxnSpPr>
            <a:cxnSpLocks/>
            <a:stCxn id="19" idx="1"/>
            <a:endCxn id="10" idx="1"/>
          </p:cNvCxnSpPr>
          <p:nvPr/>
        </p:nvCxnSpPr>
        <p:spPr>
          <a:xfrm rot="10800000" flipH="1">
            <a:off x="1112474" y="3715655"/>
            <a:ext cx="2073600" cy="771681"/>
          </a:xfrm>
          <a:prstGeom prst="curvedConnector3">
            <a:avLst>
              <a:gd name="adj1" fmla="val -11024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3" name="Connettore curvo 262">
            <a:extLst>
              <a:ext uri="{FF2B5EF4-FFF2-40B4-BE49-F238E27FC236}">
                <a16:creationId xmlns:a16="http://schemas.microsoft.com/office/drawing/2014/main" id="{38640DB9-0176-3E08-F7E5-BDF1C1B4693B}"/>
              </a:ext>
            </a:extLst>
          </p:cNvPr>
          <p:cNvCxnSpPr>
            <a:cxnSpLocks/>
            <a:stCxn id="20" idx="0"/>
            <a:endCxn id="11" idx="0"/>
          </p:cNvCxnSpPr>
          <p:nvPr/>
        </p:nvCxnSpPr>
        <p:spPr>
          <a:xfrm rot="16200000" flipV="1">
            <a:off x="9032140" y="-642273"/>
            <a:ext cx="375037" cy="2969263"/>
          </a:xfrm>
          <a:prstGeom prst="curvedConnector3">
            <a:avLst>
              <a:gd name="adj1" fmla="val 160954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34" name="Elemento grafico 433" descr="Ripeti contorno">
            <a:extLst>
              <a:ext uri="{FF2B5EF4-FFF2-40B4-BE49-F238E27FC236}">
                <a16:creationId xmlns:a16="http://schemas.microsoft.com/office/drawing/2014/main" id="{3C1A5B54-9A7C-CCD5-0B3D-EDA299A74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6927" y="1155286"/>
            <a:ext cx="801266" cy="801266"/>
          </a:xfrm>
          <a:prstGeom prst="rect">
            <a:avLst/>
          </a:prstGeom>
        </p:spPr>
      </p:pic>
      <p:sp>
        <p:nvSpPr>
          <p:cNvPr id="436" name="CasellaDiTesto 435">
            <a:extLst>
              <a:ext uri="{FF2B5EF4-FFF2-40B4-BE49-F238E27FC236}">
                <a16:creationId xmlns:a16="http://schemas.microsoft.com/office/drawing/2014/main" id="{15F753F6-8FE8-6084-0C1B-3FAD2BB01687}"/>
              </a:ext>
            </a:extLst>
          </p:cNvPr>
          <p:cNvSpPr txBox="1"/>
          <p:nvPr/>
        </p:nvSpPr>
        <p:spPr>
          <a:xfrm>
            <a:off x="4188107" y="845211"/>
            <a:ext cx="24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6"/>
                </a:solidFill>
              </a:rPr>
              <a:t>Reinforcing Loop (R1)</a:t>
            </a:r>
            <a:endParaRPr lang="it-IT" b="1">
              <a:solidFill>
                <a:schemeClr val="accent6"/>
              </a:solidFill>
            </a:endParaRPr>
          </a:p>
        </p:txBody>
      </p:sp>
      <p:sp>
        <p:nvSpPr>
          <p:cNvPr id="461" name="CasellaDiTesto 460">
            <a:extLst>
              <a:ext uri="{FF2B5EF4-FFF2-40B4-BE49-F238E27FC236}">
                <a16:creationId xmlns:a16="http://schemas.microsoft.com/office/drawing/2014/main" id="{81776933-B77E-CDF7-E6A0-8F8A4D3140F8}"/>
              </a:ext>
            </a:extLst>
          </p:cNvPr>
          <p:cNvSpPr txBox="1"/>
          <p:nvPr/>
        </p:nvSpPr>
        <p:spPr>
          <a:xfrm>
            <a:off x="4756183" y="2864718"/>
            <a:ext cx="24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Balancing Loop (B1)</a:t>
            </a:r>
            <a:endParaRPr lang="it-IT" b="1">
              <a:solidFill>
                <a:srgbClr val="FF0000"/>
              </a:solidFill>
            </a:endParaRPr>
          </a:p>
        </p:txBody>
      </p:sp>
      <p:pic>
        <p:nvPicPr>
          <p:cNvPr id="463" name="Elemento grafico 462" descr="Ripeti contorno">
            <a:extLst>
              <a:ext uri="{FF2B5EF4-FFF2-40B4-BE49-F238E27FC236}">
                <a16:creationId xmlns:a16="http://schemas.microsoft.com/office/drawing/2014/main" id="{3F2BD489-5571-E3DB-F67A-35EC5A13F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0644" y="3179862"/>
            <a:ext cx="801266" cy="801266"/>
          </a:xfrm>
          <a:prstGeom prst="rect">
            <a:avLst/>
          </a:prstGeom>
        </p:spPr>
      </p:pic>
      <p:cxnSp>
        <p:nvCxnSpPr>
          <p:cNvPr id="479" name="Connettore curvo 478">
            <a:extLst>
              <a:ext uri="{FF2B5EF4-FFF2-40B4-BE49-F238E27FC236}">
                <a16:creationId xmlns:a16="http://schemas.microsoft.com/office/drawing/2014/main" id="{922BE426-6282-175A-BD0C-68B8C4A5A32E}"/>
              </a:ext>
            </a:extLst>
          </p:cNvPr>
          <p:cNvCxnSpPr>
            <a:cxnSpLocks/>
            <a:stCxn id="11" idx="3"/>
            <a:endCxn id="19" idx="2"/>
          </p:cNvCxnSpPr>
          <p:nvPr/>
        </p:nvCxnSpPr>
        <p:spPr>
          <a:xfrm flipH="1">
            <a:off x="2036706" y="895731"/>
            <a:ext cx="6622552" cy="3832495"/>
          </a:xfrm>
          <a:prstGeom prst="curvedConnector4">
            <a:avLst>
              <a:gd name="adj1" fmla="val -5424"/>
              <a:gd name="adj2" fmla="val 11911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CasellaDiTesto 492">
            <a:extLst>
              <a:ext uri="{FF2B5EF4-FFF2-40B4-BE49-F238E27FC236}">
                <a16:creationId xmlns:a16="http://schemas.microsoft.com/office/drawing/2014/main" id="{B8608565-B84A-04AA-E817-447AB3EBF795}"/>
              </a:ext>
            </a:extLst>
          </p:cNvPr>
          <p:cNvSpPr txBox="1"/>
          <p:nvPr/>
        </p:nvSpPr>
        <p:spPr>
          <a:xfrm>
            <a:off x="4466167" y="4281284"/>
            <a:ext cx="24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tx2">
                    <a:lumMod val="75000"/>
                    <a:lumOff val="25000"/>
                  </a:schemeClr>
                </a:solidFill>
              </a:rPr>
              <a:t>Reinforcing Loop (R2)</a:t>
            </a:r>
            <a:endParaRPr lang="it-IT" b="1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94" name="Elemento grafico 493" descr="Ripeti contorno">
            <a:extLst>
              <a:ext uri="{FF2B5EF4-FFF2-40B4-BE49-F238E27FC236}">
                <a16:creationId xmlns:a16="http://schemas.microsoft.com/office/drawing/2014/main" id="{8F981863-F28E-0225-452C-4BC125F071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6997" y="4581341"/>
            <a:ext cx="801266" cy="801266"/>
          </a:xfrm>
          <a:prstGeom prst="rect">
            <a:avLst/>
          </a:prstGeom>
        </p:spPr>
      </p:pic>
      <p:cxnSp>
        <p:nvCxnSpPr>
          <p:cNvPr id="512" name="Connettore curvo 511">
            <a:extLst>
              <a:ext uri="{FF2B5EF4-FFF2-40B4-BE49-F238E27FC236}">
                <a16:creationId xmlns:a16="http://schemas.microsoft.com/office/drawing/2014/main" id="{E8096C63-4E4B-F023-D523-BEF461E52F24}"/>
              </a:ext>
            </a:extLst>
          </p:cNvPr>
          <p:cNvCxnSpPr>
            <a:cxnSpLocks/>
            <a:stCxn id="11" idx="3"/>
            <a:endCxn id="16" idx="3"/>
          </p:cNvCxnSpPr>
          <p:nvPr/>
        </p:nvCxnSpPr>
        <p:spPr>
          <a:xfrm>
            <a:off x="8659258" y="895731"/>
            <a:ext cx="439602" cy="5283863"/>
          </a:xfrm>
          <a:prstGeom prst="curvedConnector3">
            <a:avLst>
              <a:gd name="adj1" fmla="val 17110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2" name="Elemento grafico 531" descr="Ripeti contorno">
            <a:extLst>
              <a:ext uri="{FF2B5EF4-FFF2-40B4-BE49-F238E27FC236}">
                <a16:creationId xmlns:a16="http://schemas.microsoft.com/office/drawing/2014/main" id="{B9DF0633-53CC-D6F4-7BDA-FF57B153D9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17297" y="5759191"/>
            <a:ext cx="801266" cy="801266"/>
          </a:xfrm>
          <a:prstGeom prst="rect">
            <a:avLst/>
          </a:prstGeom>
        </p:spPr>
      </p:pic>
      <p:sp>
        <p:nvSpPr>
          <p:cNvPr id="533" name="CasellaDiTesto 532">
            <a:extLst>
              <a:ext uri="{FF2B5EF4-FFF2-40B4-BE49-F238E27FC236}">
                <a16:creationId xmlns:a16="http://schemas.microsoft.com/office/drawing/2014/main" id="{26D785C3-39AE-E09A-EC06-6EFD9B693AA5}"/>
              </a:ext>
            </a:extLst>
          </p:cNvPr>
          <p:cNvSpPr txBox="1"/>
          <p:nvPr/>
        </p:nvSpPr>
        <p:spPr>
          <a:xfrm>
            <a:off x="5366070" y="5454692"/>
            <a:ext cx="241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C000"/>
                </a:solidFill>
              </a:rPr>
              <a:t>Balancing Loop (B2)</a:t>
            </a:r>
            <a:endParaRPr lang="it-IT" b="1">
              <a:solidFill>
                <a:srgbClr val="FFC000"/>
              </a:solidFill>
            </a:endParaRPr>
          </a:p>
        </p:txBody>
      </p:sp>
      <p:sp>
        <p:nvSpPr>
          <p:cNvPr id="582" name="CasellaDiTesto 581">
            <a:extLst>
              <a:ext uri="{FF2B5EF4-FFF2-40B4-BE49-F238E27FC236}">
                <a16:creationId xmlns:a16="http://schemas.microsoft.com/office/drawing/2014/main" id="{24E6E2BB-334B-61D1-E9B0-83509D25BAB0}"/>
              </a:ext>
            </a:extLst>
          </p:cNvPr>
          <p:cNvSpPr txBox="1"/>
          <p:nvPr/>
        </p:nvSpPr>
        <p:spPr>
          <a:xfrm>
            <a:off x="3881875" y="2049164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3" name="CasellaDiTesto 582">
            <a:extLst>
              <a:ext uri="{FF2B5EF4-FFF2-40B4-BE49-F238E27FC236}">
                <a16:creationId xmlns:a16="http://schemas.microsoft.com/office/drawing/2014/main" id="{E30759B8-DD6B-F69F-84CA-8CBD58AA1499}"/>
              </a:ext>
            </a:extLst>
          </p:cNvPr>
          <p:cNvSpPr txBox="1"/>
          <p:nvPr/>
        </p:nvSpPr>
        <p:spPr>
          <a:xfrm>
            <a:off x="2599077" y="2750750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4" name="CasellaDiTesto 583">
            <a:extLst>
              <a:ext uri="{FF2B5EF4-FFF2-40B4-BE49-F238E27FC236}">
                <a16:creationId xmlns:a16="http://schemas.microsoft.com/office/drawing/2014/main" id="{83B2BE36-6058-BD6F-9428-8020CBECB002}"/>
              </a:ext>
            </a:extLst>
          </p:cNvPr>
          <p:cNvSpPr txBox="1"/>
          <p:nvPr/>
        </p:nvSpPr>
        <p:spPr>
          <a:xfrm>
            <a:off x="3060359" y="566233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5" name="CasellaDiTesto 584">
            <a:extLst>
              <a:ext uri="{FF2B5EF4-FFF2-40B4-BE49-F238E27FC236}">
                <a16:creationId xmlns:a16="http://schemas.microsoft.com/office/drawing/2014/main" id="{7C0105BA-FE29-30ED-13B0-18C5CC7C2F9F}"/>
              </a:ext>
            </a:extLst>
          </p:cNvPr>
          <p:cNvSpPr txBox="1"/>
          <p:nvPr/>
        </p:nvSpPr>
        <p:spPr>
          <a:xfrm>
            <a:off x="7010694" y="3759057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</a:t>
            </a:r>
            <a:endParaRPr lang="it-IT"/>
          </a:p>
        </p:txBody>
      </p:sp>
      <p:sp>
        <p:nvSpPr>
          <p:cNvPr id="586" name="CasellaDiTesto 585">
            <a:extLst>
              <a:ext uri="{FF2B5EF4-FFF2-40B4-BE49-F238E27FC236}">
                <a16:creationId xmlns:a16="http://schemas.microsoft.com/office/drawing/2014/main" id="{B21FA650-856E-1FAE-CC3E-9CCF4CC5E93D}"/>
              </a:ext>
            </a:extLst>
          </p:cNvPr>
          <p:cNvSpPr txBox="1"/>
          <p:nvPr/>
        </p:nvSpPr>
        <p:spPr>
          <a:xfrm>
            <a:off x="6810207" y="1425796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7" name="CasellaDiTesto 586">
            <a:extLst>
              <a:ext uri="{FF2B5EF4-FFF2-40B4-BE49-F238E27FC236}">
                <a16:creationId xmlns:a16="http://schemas.microsoft.com/office/drawing/2014/main" id="{F1A3F46F-C859-E21E-F045-06A88D23BB07}"/>
              </a:ext>
            </a:extLst>
          </p:cNvPr>
          <p:cNvSpPr txBox="1"/>
          <p:nvPr/>
        </p:nvSpPr>
        <p:spPr>
          <a:xfrm>
            <a:off x="7978825" y="2012123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8" name="CasellaDiTesto 587">
            <a:extLst>
              <a:ext uri="{FF2B5EF4-FFF2-40B4-BE49-F238E27FC236}">
                <a16:creationId xmlns:a16="http://schemas.microsoft.com/office/drawing/2014/main" id="{9AFAF816-7511-A61C-11DB-2335D99B219F}"/>
              </a:ext>
            </a:extLst>
          </p:cNvPr>
          <p:cNvSpPr txBox="1"/>
          <p:nvPr/>
        </p:nvSpPr>
        <p:spPr>
          <a:xfrm>
            <a:off x="10559142" y="2947825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89" name="CasellaDiTesto 588">
            <a:extLst>
              <a:ext uri="{FF2B5EF4-FFF2-40B4-BE49-F238E27FC236}">
                <a16:creationId xmlns:a16="http://schemas.microsoft.com/office/drawing/2014/main" id="{1C4FAD68-F62C-0F16-21F7-07AF5E562E05}"/>
              </a:ext>
            </a:extLst>
          </p:cNvPr>
          <p:cNvSpPr txBox="1"/>
          <p:nvPr/>
        </p:nvSpPr>
        <p:spPr>
          <a:xfrm>
            <a:off x="10547686" y="4393252"/>
            <a:ext cx="5349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+/-</a:t>
            </a:r>
            <a:endParaRPr lang="it-IT"/>
          </a:p>
        </p:txBody>
      </p:sp>
      <p:sp>
        <p:nvSpPr>
          <p:cNvPr id="590" name="CasellaDiTesto 589">
            <a:extLst>
              <a:ext uri="{FF2B5EF4-FFF2-40B4-BE49-F238E27FC236}">
                <a16:creationId xmlns:a16="http://schemas.microsoft.com/office/drawing/2014/main" id="{B4FE7E64-8B72-3940-2E3D-87061A6D4E57}"/>
              </a:ext>
            </a:extLst>
          </p:cNvPr>
          <p:cNvSpPr txBox="1"/>
          <p:nvPr/>
        </p:nvSpPr>
        <p:spPr>
          <a:xfrm>
            <a:off x="11908634" y="3582141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</a:t>
            </a:r>
            <a:endParaRPr lang="it-IT"/>
          </a:p>
        </p:txBody>
      </p:sp>
      <p:sp>
        <p:nvSpPr>
          <p:cNvPr id="591" name="CasellaDiTesto 590">
            <a:extLst>
              <a:ext uri="{FF2B5EF4-FFF2-40B4-BE49-F238E27FC236}">
                <a16:creationId xmlns:a16="http://schemas.microsoft.com/office/drawing/2014/main" id="{447453C9-FBAD-6DEE-96AE-AA666DD97372}"/>
              </a:ext>
            </a:extLst>
          </p:cNvPr>
          <p:cNvSpPr txBox="1"/>
          <p:nvPr/>
        </p:nvSpPr>
        <p:spPr>
          <a:xfrm>
            <a:off x="7963456" y="3834635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</a:t>
            </a:r>
            <a:endParaRPr lang="it-IT"/>
          </a:p>
        </p:txBody>
      </p:sp>
      <p:sp>
        <p:nvSpPr>
          <p:cNvPr id="592" name="CasellaDiTesto 591">
            <a:extLst>
              <a:ext uri="{FF2B5EF4-FFF2-40B4-BE49-F238E27FC236}">
                <a16:creationId xmlns:a16="http://schemas.microsoft.com/office/drawing/2014/main" id="{08C60F61-AFC8-3D1E-2625-624935D0A2C6}"/>
              </a:ext>
            </a:extLst>
          </p:cNvPr>
          <p:cNvSpPr txBox="1"/>
          <p:nvPr/>
        </p:nvSpPr>
        <p:spPr>
          <a:xfrm>
            <a:off x="6480560" y="6412178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93" name="CasellaDiTesto 592">
            <a:extLst>
              <a:ext uri="{FF2B5EF4-FFF2-40B4-BE49-F238E27FC236}">
                <a16:creationId xmlns:a16="http://schemas.microsoft.com/office/drawing/2014/main" id="{4ADD3388-B441-190D-97AD-04B92DDF437F}"/>
              </a:ext>
            </a:extLst>
          </p:cNvPr>
          <p:cNvSpPr txBox="1"/>
          <p:nvPr/>
        </p:nvSpPr>
        <p:spPr>
          <a:xfrm>
            <a:off x="3222269" y="6360896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594" name="CasellaDiTesto 593">
            <a:extLst>
              <a:ext uri="{FF2B5EF4-FFF2-40B4-BE49-F238E27FC236}">
                <a16:creationId xmlns:a16="http://schemas.microsoft.com/office/drawing/2014/main" id="{71E23BB4-4806-C9A1-32EA-5A781FE64C7E}"/>
              </a:ext>
            </a:extLst>
          </p:cNvPr>
          <p:cNvSpPr txBox="1"/>
          <p:nvPr/>
        </p:nvSpPr>
        <p:spPr>
          <a:xfrm>
            <a:off x="1065896" y="1014756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</a:t>
            </a:r>
            <a:endParaRPr lang="it-IT"/>
          </a:p>
        </p:txBody>
      </p:sp>
      <p:sp>
        <p:nvSpPr>
          <p:cNvPr id="595" name="CasellaDiTesto 594">
            <a:extLst>
              <a:ext uri="{FF2B5EF4-FFF2-40B4-BE49-F238E27FC236}">
                <a16:creationId xmlns:a16="http://schemas.microsoft.com/office/drawing/2014/main" id="{E5F0B4FA-73CE-7E1E-6CDF-57C782F2A242}"/>
              </a:ext>
            </a:extLst>
          </p:cNvPr>
          <p:cNvSpPr txBox="1"/>
          <p:nvPr/>
        </p:nvSpPr>
        <p:spPr>
          <a:xfrm>
            <a:off x="1928320" y="3591140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-</a:t>
            </a:r>
            <a:endParaRPr lang="it-IT"/>
          </a:p>
        </p:txBody>
      </p:sp>
      <p:cxnSp>
        <p:nvCxnSpPr>
          <p:cNvPr id="598" name="Connettore curvo 597">
            <a:extLst>
              <a:ext uri="{FF2B5EF4-FFF2-40B4-BE49-F238E27FC236}">
                <a16:creationId xmlns:a16="http://schemas.microsoft.com/office/drawing/2014/main" id="{31778138-C136-29F5-63AC-770B697BA361}"/>
              </a:ext>
            </a:extLst>
          </p:cNvPr>
          <p:cNvCxnSpPr>
            <a:cxnSpLocks/>
            <a:stCxn id="19" idx="1"/>
            <a:endCxn id="8" idx="1"/>
          </p:cNvCxnSpPr>
          <p:nvPr/>
        </p:nvCxnSpPr>
        <p:spPr>
          <a:xfrm rot="10800000" flipH="1">
            <a:off x="1112473" y="1984895"/>
            <a:ext cx="690583" cy="2502440"/>
          </a:xfrm>
          <a:prstGeom prst="curvedConnector3">
            <a:avLst>
              <a:gd name="adj1" fmla="val -614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4" name="CasellaDiTesto 603">
            <a:extLst>
              <a:ext uri="{FF2B5EF4-FFF2-40B4-BE49-F238E27FC236}">
                <a16:creationId xmlns:a16="http://schemas.microsoft.com/office/drawing/2014/main" id="{B21795EF-88E7-5F13-9D15-970BA40CF517}"/>
              </a:ext>
            </a:extLst>
          </p:cNvPr>
          <p:cNvSpPr txBox="1"/>
          <p:nvPr/>
        </p:nvSpPr>
        <p:spPr>
          <a:xfrm>
            <a:off x="387113" y="2739921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  <p:sp>
        <p:nvSpPr>
          <p:cNvPr id="605" name="CasellaDiTesto 604">
            <a:extLst>
              <a:ext uri="{FF2B5EF4-FFF2-40B4-BE49-F238E27FC236}">
                <a16:creationId xmlns:a16="http://schemas.microsoft.com/office/drawing/2014/main" id="{0A8659F9-0752-839E-85A9-B56B06EE87F2}"/>
              </a:ext>
            </a:extLst>
          </p:cNvPr>
          <p:cNvSpPr txBox="1"/>
          <p:nvPr/>
        </p:nvSpPr>
        <p:spPr>
          <a:xfrm>
            <a:off x="9238848" y="58978"/>
            <a:ext cx="283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+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7600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94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Giacomo Demetrio Masone</dc:creator>
  <cp:lastModifiedBy>Giacomo Demetrio Masone</cp:lastModifiedBy>
  <cp:revision>2</cp:revision>
  <dcterms:created xsi:type="dcterms:W3CDTF">2025-03-02T19:13:18Z</dcterms:created>
  <dcterms:modified xsi:type="dcterms:W3CDTF">2025-04-08T01:04:23Z</dcterms:modified>
</cp:coreProperties>
</file>